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Sora Medium"/>
      <p:regular r:id="rId16"/>
    </p:embeddedFont>
    <p:embeddedFont>
      <p:font typeface="Sora Medium"/>
      <p:regular r:id="rId17"/>
    </p:embeddedFont>
    <p:embeddedFont>
      <p:font typeface="Noto Sans TC"/>
      <p:regular r:id="rId18"/>
    </p:embeddedFont>
    <p:embeddedFont>
      <p:font typeface="Noto Sans TC"/>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829753"/>
            <a:ext cx="7556421" cy="2126337"/>
          </a:xfrm>
          <a:prstGeom prst="rect">
            <a:avLst/>
          </a:prstGeom>
          <a:noFill/>
          <a:ln/>
        </p:spPr>
        <p:txBody>
          <a:bodyPr wrap="square" lIns="0" tIns="0" rIns="0" bIns="0" rtlCol="0" anchor="t"/>
          <a:lstStyle/>
          <a:p>
            <a:pPr indent="0" marL="0">
              <a:lnSpc>
                <a:spcPts val="5550"/>
              </a:lnSpc>
              <a:buNone/>
            </a:pPr>
            <a:r>
              <a:rPr lang="en-US" sz="4450" dirty="0">
                <a:solidFill>
                  <a:srgbClr val="97B8FF"/>
                </a:solidFill>
                <a:latin typeface="Sora Medium" pitchFamily="34" charset="0"/>
                <a:ea typeface="Sora Medium" pitchFamily="34" charset="-122"/>
                <a:cs typeface="Sora Medium" pitchFamily="34" charset="-120"/>
              </a:rPr>
              <a:t>The Essence of Information: Bits &amp; Context</a:t>
            </a:r>
            <a:endParaRPr lang="en-US" sz="4450" dirty="0"/>
          </a:p>
        </p:txBody>
      </p:sp>
      <p:sp>
        <p:nvSpPr>
          <p:cNvPr id="4" name="Text 1"/>
          <p:cNvSpPr/>
          <p:nvPr/>
        </p:nvSpPr>
        <p:spPr>
          <a:xfrm>
            <a:off x="793790" y="4296251"/>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What makes information meaningful? It's not just a collection of bits, but the context that binds them together. This presentation explores the fascinating interplay between bits and context, revealing the essence of information itself.</a:t>
            </a:r>
            <a:endParaRPr lang="en-US" sz="1750" dirty="0"/>
          </a:p>
        </p:txBody>
      </p:sp>
      <p:sp>
        <p:nvSpPr>
          <p:cNvPr id="5" name="Shape 2"/>
          <p:cNvSpPr/>
          <p:nvPr/>
        </p:nvSpPr>
        <p:spPr>
          <a:xfrm>
            <a:off x="793790" y="6019919"/>
            <a:ext cx="362903" cy="362903"/>
          </a:xfrm>
          <a:prstGeom prst="roundRect">
            <a:avLst>
              <a:gd name="adj" fmla="val 25194296"/>
            </a:avLst>
          </a:prstGeom>
          <a:noFill/>
          <a:ln w="7620">
            <a:solidFill>
              <a:srgbClr val="FFFFFF"/>
            </a:solidFill>
            <a:prstDash val="solid"/>
          </a:ln>
        </p:spPr>
      </p:sp>
      <p:pic>
        <p:nvPicPr>
          <p:cNvPr id="6" name="Image 1" descr="preencoded.png">    </p:cNvPr>
          <p:cNvPicPr>
            <a:picLocks noChangeAspect="1"/>
          </p:cNvPicPr>
          <p:nvPr/>
        </p:nvPicPr>
        <p:blipFill>
          <a:blip r:embed="rId2"/>
          <a:stretch>
            <a:fillRect/>
          </a:stretch>
        </p:blipFill>
        <p:spPr>
          <a:xfrm>
            <a:off x="801410" y="6027539"/>
            <a:ext cx="347663" cy="347663"/>
          </a:xfrm>
          <a:prstGeom prst="rect">
            <a:avLst/>
          </a:prstGeom>
        </p:spPr>
      </p:pic>
      <p:sp>
        <p:nvSpPr>
          <p:cNvPr id="7" name="Text 3"/>
          <p:cNvSpPr/>
          <p:nvPr/>
        </p:nvSpPr>
        <p:spPr>
          <a:xfrm>
            <a:off x="1270040" y="6003012"/>
            <a:ext cx="2372439" cy="396835"/>
          </a:xfrm>
          <a:prstGeom prst="rect">
            <a:avLst/>
          </a:prstGeom>
          <a:noFill/>
          <a:ln/>
        </p:spPr>
        <p:txBody>
          <a:bodyPr wrap="none" lIns="0" tIns="0" rIns="0" bIns="0" rtlCol="0" anchor="t"/>
          <a:lstStyle/>
          <a:p>
            <a:pPr algn="l" indent="0" marL="0">
              <a:lnSpc>
                <a:spcPts val="3100"/>
              </a:lnSpc>
              <a:buNone/>
            </a:pPr>
            <a:r>
              <a:rPr lang="en-US" sz="2200" b="1" dirty="0">
                <a:solidFill>
                  <a:srgbClr val="E0D6DE"/>
                </a:solidFill>
                <a:latin typeface="Noto Sans TC Bold" pitchFamily="34" charset="0"/>
                <a:ea typeface="Noto Sans TC Bold" pitchFamily="34" charset="-122"/>
                <a:cs typeface="Noto Sans TC Bold" pitchFamily="34" charset="-120"/>
              </a:rPr>
              <a:t>by Adnan Majeed</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58509"/>
            <a:ext cx="6473785" cy="708779"/>
          </a:xfrm>
          <a:prstGeom prst="rect">
            <a:avLst/>
          </a:prstGeom>
          <a:noFill/>
          <a:ln/>
        </p:spPr>
        <p:txBody>
          <a:bodyPr wrap="none" lIns="0" tIns="0" rIns="0" bIns="0" rtlCol="0" anchor="t"/>
          <a:lstStyle/>
          <a:p>
            <a:pPr indent="0" marL="0">
              <a:lnSpc>
                <a:spcPts val="5550"/>
              </a:lnSpc>
              <a:buNone/>
            </a:pPr>
            <a:r>
              <a:rPr lang="en-US" sz="4450" dirty="0">
                <a:solidFill>
                  <a:srgbClr val="97B8FF"/>
                </a:solidFill>
                <a:latin typeface="Sora Medium" pitchFamily="34" charset="0"/>
                <a:ea typeface="Sora Medium" pitchFamily="34" charset="-122"/>
                <a:cs typeface="Sora Medium" pitchFamily="34" charset="-120"/>
              </a:rPr>
              <a:t>Bits as Building Blocks</a:t>
            </a:r>
            <a:endParaRPr lang="en-US" sz="4450" dirty="0"/>
          </a:p>
        </p:txBody>
      </p:sp>
      <p:sp>
        <p:nvSpPr>
          <p:cNvPr id="3" name="Text 1"/>
          <p:cNvSpPr/>
          <p:nvPr/>
        </p:nvSpPr>
        <p:spPr>
          <a:xfrm>
            <a:off x="793790" y="3634264"/>
            <a:ext cx="2835235" cy="354330"/>
          </a:xfrm>
          <a:prstGeom prst="rect">
            <a:avLst/>
          </a:prstGeom>
          <a:noFill/>
          <a:ln/>
        </p:spPr>
        <p:txBody>
          <a:bodyPr wrap="none" lIns="0" tIns="0" rIns="0" bIns="0" rtlCol="0" anchor="t"/>
          <a:lstStyle/>
          <a:p>
            <a:pPr indent="0" marL="0">
              <a:lnSpc>
                <a:spcPts val="2750"/>
              </a:lnSpc>
              <a:buNone/>
            </a:pPr>
            <a:r>
              <a:rPr lang="en-US" sz="2200" dirty="0">
                <a:solidFill>
                  <a:srgbClr val="97B8FF"/>
                </a:solidFill>
                <a:latin typeface="Sora Medium" pitchFamily="34" charset="0"/>
                <a:ea typeface="Sora Medium" pitchFamily="34" charset="-122"/>
                <a:cs typeface="Sora Medium" pitchFamily="34" charset="-120"/>
              </a:rPr>
              <a:t>Definition</a:t>
            </a:r>
            <a:endParaRPr lang="en-US" sz="2200" dirty="0"/>
          </a:p>
        </p:txBody>
      </p:sp>
      <p:sp>
        <p:nvSpPr>
          <p:cNvPr id="4" name="Text 2"/>
          <p:cNvSpPr/>
          <p:nvPr/>
        </p:nvSpPr>
        <p:spPr>
          <a:xfrm>
            <a:off x="793790" y="4215408"/>
            <a:ext cx="6244709" cy="1451610"/>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Bits are the fundamental unit of information in computing, representing either a 0 or a 1. They are the building blocks of everything digital, from text and images to programs and data.</a:t>
            </a:r>
            <a:endParaRPr lang="en-US" sz="1750" dirty="0"/>
          </a:p>
        </p:txBody>
      </p:sp>
      <p:sp>
        <p:nvSpPr>
          <p:cNvPr id="5" name="Text 3"/>
          <p:cNvSpPr/>
          <p:nvPr/>
        </p:nvSpPr>
        <p:spPr>
          <a:xfrm>
            <a:off x="7599521" y="3634264"/>
            <a:ext cx="2835235" cy="354330"/>
          </a:xfrm>
          <a:prstGeom prst="rect">
            <a:avLst/>
          </a:prstGeom>
          <a:noFill/>
          <a:ln/>
        </p:spPr>
        <p:txBody>
          <a:bodyPr wrap="none" lIns="0" tIns="0" rIns="0" bIns="0" rtlCol="0" anchor="t"/>
          <a:lstStyle/>
          <a:p>
            <a:pPr indent="0" marL="0">
              <a:lnSpc>
                <a:spcPts val="2750"/>
              </a:lnSpc>
              <a:buNone/>
            </a:pPr>
            <a:r>
              <a:rPr lang="en-US" sz="2200" dirty="0">
                <a:solidFill>
                  <a:srgbClr val="97B8FF"/>
                </a:solidFill>
                <a:latin typeface="Sora Medium" pitchFamily="34" charset="0"/>
                <a:ea typeface="Sora Medium" pitchFamily="34" charset="-122"/>
                <a:cs typeface="Sora Medium" pitchFamily="34" charset="-120"/>
              </a:rPr>
              <a:t>Importance</a:t>
            </a:r>
            <a:endParaRPr lang="en-US" sz="2200" dirty="0"/>
          </a:p>
        </p:txBody>
      </p:sp>
      <p:sp>
        <p:nvSpPr>
          <p:cNvPr id="6" name="Text 4"/>
          <p:cNvSpPr/>
          <p:nvPr/>
        </p:nvSpPr>
        <p:spPr>
          <a:xfrm>
            <a:off x="7599521" y="4215408"/>
            <a:ext cx="6244709" cy="1088708"/>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Bits alone are meaningless without context. They are like individual puzzle pieces that need to be assembled in the right order to form a complete picture.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071" y="595551"/>
            <a:ext cx="7123986" cy="676870"/>
          </a:xfrm>
          <a:prstGeom prst="rect">
            <a:avLst/>
          </a:prstGeom>
          <a:noFill/>
          <a:ln/>
        </p:spPr>
        <p:txBody>
          <a:bodyPr wrap="none" lIns="0" tIns="0" rIns="0" bIns="0" rtlCol="0" anchor="t"/>
          <a:lstStyle/>
          <a:p>
            <a:pPr indent="0" marL="0">
              <a:lnSpc>
                <a:spcPts val="5300"/>
              </a:lnSpc>
              <a:buNone/>
            </a:pPr>
            <a:r>
              <a:rPr lang="en-US" sz="4250" dirty="0">
                <a:solidFill>
                  <a:srgbClr val="97B8FF"/>
                </a:solidFill>
                <a:latin typeface="Sora Medium" pitchFamily="34" charset="0"/>
                <a:ea typeface="Sora Medium" pitchFamily="34" charset="-122"/>
                <a:cs typeface="Sora Medium" pitchFamily="34" charset="-120"/>
              </a:rPr>
              <a:t>Context Unlocks Meaning</a:t>
            </a:r>
            <a:endParaRPr lang="en-US" sz="4250" dirty="0"/>
          </a:p>
        </p:txBody>
      </p:sp>
      <p:pic>
        <p:nvPicPr>
          <p:cNvPr id="3" name="Image 0" descr="preencoded.png">    </p:cNvPr>
          <p:cNvPicPr>
            <a:picLocks noChangeAspect="1"/>
          </p:cNvPicPr>
          <p:nvPr/>
        </p:nvPicPr>
        <p:blipFill>
          <a:blip r:embed="rId1"/>
          <a:stretch>
            <a:fillRect/>
          </a:stretch>
        </p:blipFill>
        <p:spPr>
          <a:xfrm>
            <a:off x="2954655" y="1705570"/>
            <a:ext cx="2163842" cy="1940838"/>
          </a:xfrm>
          <a:prstGeom prst="rect">
            <a:avLst/>
          </a:prstGeom>
        </p:spPr>
      </p:pic>
      <p:sp>
        <p:nvSpPr>
          <p:cNvPr id="4" name="Text 1"/>
          <p:cNvSpPr/>
          <p:nvPr/>
        </p:nvSpPr>
        <p:spPr>
          <a:xfrm>
            <a:off x="3979188" y="2717959"/>
            <a:ext cx="114538" cy="433149"/>
          </a:xfrm>
          <a:prstGeom prst="rect">
            <a:avLst/>
          </a:prstGeom>
          <a:noFill/>
          <a:ln/>
        </p:spPr>
        <p:txBody>
          <a:bodyPr wrap="none" lIns="0" tIns="0" rIns="0" bIns="0" rtlCol="0" anchor="t"/>
          <a:lstStyle/>
          <a:p>
            <a:pPr algn="ctr" indent="0" marL="0">
              <a:lnSpc>
                <a:spcPts val="3400"/>
              </a:lnSpc>
              <a:buNone/>
            </a:pPr>
            <a:r>
              <a:rPr lang="en-US" sz="2100" dirty="0">
                <a:solidFill>
                  <a:srgbClr val="E0D6DE"/>
                </a:solidFill>
                <a:latin typeface="Sora Medium" pitchFamily="34" charset="0"/>
                <a:ea typeface="Sora Medium" pitchFamily="34" charset="-122"/>
                <a:cs typeface="Sora Medium" pitchFamily="34" charset="-120"/>
              </a:rPr>
              <a:t>1</a:t>
            </a:r>
            <a:endParaRPr lang="en-US" sz="2100" dirty="0"/>
          </a:p>
        </p:txBody>
      </p:sp>
      <p:sp>
        <p:nvSpPr>
          <p:cNvPr id="5" name="Text 2"/>
          <p:cNvSpPr/>
          <p:nvPr/>
        </p:nvSpPr>
        <p:spPr>
          <a:xfrm>
            <a:off x="5335072" y="2095381"/>
            <a:ext cx="2707481" cy="338376"/>
          </a:xfrm>
          <a:prstGeom prst="rect">
            <a:avLst/>
          </a:prstGeom>
          <a:noFill/>
          <a:ln/>
        </p:spPr>
        <p:txBody>
          <a:bodyPr wrap="none" lIns="0" tIns="0" rIns="0" bIns="0" rtlCol="0" anchor="t"/>
          <a:lstStyle/>
          <a:p>
            <a:pPr algn="l" indent="0" marL="0">
              <a:lnSpc>
                <a:spcPts val="2650"/>
              </a:lnSpc>
              <a:buNone/>
            </a:pPr>
            <a:r>
              <a:rPr lang="en-US" sz="2100" dirty="0">
                <a:solidFill>
                  <a:srgbClr val="E0D6DE"/>
                </a:solidFill>
                <a:latin typeface="Sora Medium" pitchFamily="34" charset="0"/>
                <a:ea typeface="Sora Medium" pitchFamily="34" charset="-122"/>
                <a:cs typeface="Sora Medium" pitchFamily="34" charset="-120"/>
              </a:rPr>
              <a:t>Language</a:t>
            </a:r>
            <a:endParaRPr lang="en-US" sz="2100" dirty="0"/>
          </a:p>
        </p:txBody>
      </p:sp>
      <p:sp>
        <p:nvSpPr>
          <p:cNvPr id="6" name="Text 3"/>
          <p:cNvSpPr/>
          <p:nvPr/>
        </p:nvSpPr>
        <p:spPr>
          <a:xfrm>
            <a:off x="5335072" y="2563654"/>
            <a:ext cx="8320683" cy="692944"/>
          </a:xfrm>
          <a:prstGeom prst="rect">
            <a:avLst/>
          </a:prstGeom>
          <a:noFill/>
          <a:ln/>
        </p:spPr>
        <p:txBody>
          <a:bodyPr wrap="square" lIns="0" tIns="0" rIns="0" bIns="0" rtlCol="0" anchor="t"/>
          <a:lstStyle/>
          <a:p>
            <a:pPr algn="l" indent="0" marL="0">
              <a:lnSpc>
                <a:spcPts val="2700"/>
              </a:lnSpc>
              <a:buNone/>
            </a:pPr>
            <a:r>
              <a:rPr lang="en-US" sz="1700" dirty="0">
                <a:solidFill>
                  <a:srgbClr val="E0D6DE"/>
                </a:solidFill>
                <a:latin typeface="Noto Sans TC" pitchFamily="34" charset="0"/>
                <a:ea typeface="Noto Sans TC" pitchFamily="34" charset="-122"/>
                <a:cs typeface="Noto Sans TC" pitchFamily="34" charset="-120"/>
              </a:rPr>
              <a:t>A sequence of bits can represent a word, but only when interpreted within the context of a language.</a:t>
            </a:r>
            <a:endParaRPr lang="en-US" sz="1700" dirty="0"/>
          </a:p>
        </p:txBody>
      </p:sp>
      <p:sp>
        <p:nvSpPr>
          <p:cNvPr id="7" name="Shape 4"/>
          <p:cNvSpPr/>
          <p:nvPr/>
        </p:nvSpPr>
        <p:spPr>
          <a:xfrm>
            <a:off x="5172551" y="3658195"/>
            <a:ext cx="8645723" cy="15240"/>
          </a:xfrm>
          <a:prstGeom prst="roundRect">
            <a:avLst>
              <a:gd name="adj" fmla="val 213188"/>
            </a:avLst>
          </a:prstGeom>
          <a:solidFill>
            <a:srgbClr val="3F3F44"/>
          </a:solidFill>
          <a:ln/>
        </p:spPr>
      </p:sp>
      <p:pic>
        <p:nvPicPr>
          <p:cNvPr id="8" name="Image 1" descr="preencoded.png">    </p:cNvPr>
          <p:cNvPicPr>
            <a:picLocks noChangeAspect="1"/>
          </p:cNvPicPr>
          <p:nvPr/>
        </p:nvPicPr>
        <p:blipFill>
          <a:blip r:embed="rId2"/>
          <a:stretch>
            <a:fillRect/>
          </a:stretch>
        </p:blipFill>
        <p:spPr>
          <a:xfrm>
            <a:off x="1872734" y="3700463"/>
            <a:ext cx="4327684" cy="1940838"/>
          </a:xfrm>
          <a:prstGeom prst="rect">
            <a:avLst/>
          </a:prstGeom>
        </p:spPr>
      </p:pic>
      <p:sp>
        <p:nvSpPr>
          <p:cNvPr id="9" name="Text 5"/>
          <p:cNvSpPr/>
          <p:nvPr/>
        </p:nvSpPr>
        <p:spPr>
          <a:xfrm>
            <a:off x="3952161" y="4454247"/>
            <a:ext cx="168712" cy="433149"/>
          </a:xfrm>
          <a:prstGeom prst="rect">
            <a:avLst/>
          </a:prstGeom>
          <a:noFill/>
          <a:ln/>
        </p:spPr>
        <p:txBody>
          <a:bodyPr wrap="none" lIns="0" tIns="0" rIns="0" bIns="0" rtlCol="0" anchor="t"/>
          <a:lstStyle/>
          <a:p>
            <a:pPr algn="ctr" indent="0" marL="0">
              <a:lnSpc>
                <a:spcPts val="3400"/>
              </a:lnSpc>
              <a:buNone/>
            </a:pPr>
            <a:r>
              <a:rPr lang="en-US" sz="2100" dirty="0">
                <a:solidFill>
                  <a:srgbClr val="E0D6DE"/>
                </a:solidFill>
                <a:latin typeface="Sora Medium" pitchFamily="34" charset="0"/>
                <a:ea typeface="Sora Medium" pitchFamily="34" charset="-122"/>
                <a:cs typeface="Sora Medium" pitchFamily="34" charset="-120"/>
              </a:rPr>
              <a:t>2</a:t>
            </a:r>
            <a:endParaRPr lang="en-US" sz="2100" dirty="0"/>
          </a:p>
        </p:txBody>
      </p:sp>
      <p:sp>
        <p:nvSpPr>
          <p:cNvPr id="10" name="Text 6"/>
          <p:cNvSpPr/>
          <p:nvPr/>
        </p:nvSpPr>
        <p:spPr>
          <a:xfrm>
            <a:off x="6416993" y="4090273"/>
            <a:ext cx="2707481" cy="338376"/>
          </a:xfrm>
          <a:prstGeom prst="rect">
            <a:avLst/>
          </a:prstGeom>
          <a:noFill/>
          <a:ln/>
        </p:spPr>
        <p:txBody>
          <a:bodyPr wrap="none" lIns="0" tIns="0" rIns="0" bIns="0" rtlCol="0" anchor="t"/>
          <a:lstStyle/>
          <a:p>
            <a:pPr algn="l" indent="0" marL="0">
              <a:lnSpc>
                <a:spcPts val="2650"/>
              </a:lnSpc>
              <a:buNone/>
            </a:pPr>
            <a:r>
              <a:rPr lang="en-US" sz="2100" dirty="0">
                <a:solidFill>
                  <a:srgbClr val="E0D6DE"/>
                </a:solidFill>
                <a:latin typeface="Sora Medium" pitchFamily="34" charset="0"/>
                <a:ea typeface="Sora Medium" pitchFamily="34" charset="-122"/>
                <a:cs typeface="Sora Medium" pitchFamily="34" charset="-120"/>
              </a:rPr>
              <a:t>Format</a:t>
            </a:r>
            <a:endParaRPr lang="en-US" sz="2100" dirty="0"/>
          </a:p>
        </p:txBody>
      </p:sp>
      <p:sp>
        <p:nvSpPr>
          <p:cNvPr id="11" name="Text 7"/>
          <p:cNvSpPr/>
          <p:nvPr/>
        </p:nvSpPr>
        <p:spPr>
          <a:xfrm>
            <a:off x="6416993" y="4558546"/>
            <a:ext cx="7238762" cy="692944"/>
          </a:xfrm>
          <a:prstGeom prst="rect">
            <a:avLst/>
          </a:prstGeom>
          <a:noFill/>
          <a:ln/>
        </p:spPr>
        <p:txBody>
          <a:bodyPr wrap="square" lIns="0" tIns="0" rIns="0" bIns="0" rtlCol="0" anchor="t"/>
          <a:lstStyle/>
          <a:p>
            <a:pPr algn="l" indent="0" marL="0">
              <a:lnSpc>
                <a:spcPts val="2700"/>
              </a:lnSpc>
              <a:buNone/>
            </a:pPr>
            <a:r>
              <a:rPr lang="en-US" sz="1700" dirty="0">
                <a:solidFill>
                  <a:srgbClr val="E0D6DE"/>
                </a:solidFill>
                <a:latin typeface="Noto Sans TC" pitchFamily="34" charset="0"/>
                <a:ea typeface="Noto Sans TC" pitchFamily="34" charset="-122"/>
                <a:cs typeface="Noto Sans TC" pitchFamily="34" charset="-120"/>
              </a:rPr>
              <a:t>Knowing the format of the data, such as image, audio, or video, dictates how the bits are processed and displayed.</a:t>
            </a:r>
            <a:endParaRPr lang="en-US" sz="1700" dirty="0"/>
          </a:p>
        </p:txBody>
      </p:sp>
      <p:sp>
        <p:nvSpPr>
          <p:cNvPr id="12" name="Shape 8"/>
          <p:cNvSpPr/>
          <p:nvPr/>
        </p:nvSpPr>
        <p:spPr>
          <a:xfrm>
            <a:off x="6254472" y="5653088"/>
            <a:ext cx="7563803" cy="15240"/>
          </a:xfrm>
          <a:prstGeom prst="roundRect">
            <a:avLst>
              <a:gd name="adj" fmla="val 213188"/>
            </a:avLst>
          </a:prstGeom>
          <a:solidFill>
            <a:srgbClr val="3F3F44"/>
          </a:solidFill>
          <a:ln/>
        </p:spPr>
      </p:sp>
      <p:pic>
        <p:nvPicPr>
          <p:cNvPr id="13" name="Image 2" descr="preencoded.png">    </p:cNvPr>
          <p:cNvPicPr>
            <a:picLocks noChangeAspect="1"/>
          </p:cNvPicPr>
          <p:nvPr/>
        </p:nvPicPr>
        <p:blipFill>
          <a:blip r:embed="rId3"/>
          <a:stretch>
            <a:fillRect/>
          </a:stretch>
        </p:blipFill>
        <p:spPr>
          <a:xfrm>
            <a:off x="790813" y="5695355"/>
            <a:ext cx="6491526" cy="1940838"/>
          </a:xfrm>
          <a:prstGeom prst="rect">
            <a:avLst/>
          </a:prstGeom>
        </p:spPr>
      </p:pic>
      <p:sp>
        <p:nvSpPr>
          <p:cNvPr id="14" name="Text 9"/>
          <p:cNvSpPr/>
          <p:nvPr/>
        </p:nvSpPr>
        <p:spPr>
          <a:xfrm>
            <a:off x="3952637" y="6449139"/>
            <a:ext cx="167878" cy="433149"/>
          </a:xfrm>
          <a:prstGeom prst="rect">
            <a:avLst/>
          </a:prstGeom>
          <a:noFill/>
          <a:ln/>
        </p:spPr>
        <p:txBody>
          <a:bodyPr wrap="none" lIns="0" tIns="0" rIns="0" bIns="0" rtlCol="0" anchor="t"/>
          <a:lstStyle/>
          <a:p>
            <a:pPr algn="ctr" indent="0" marL="0">
              <a:lnSpc>
                <a:spcPts val="3400"/>
              </a:lnSpc>
              <a:buNone/>
            </a:pPr>
            <a:r>
              <a:rPr lang="en-US" sz="2100" dirty="0">
                <a:solidFill>
                  <a:srgbClr val="E0D6DE"/>
                </a:solidFill>
                <a:latin typeface="Sora Medium" pitchFamily="34" charset="0"/>
                <a:ea typeface="Sora Medium" pitchFamily="34" charset="-122"/>
                <a:cs typeface="Sora Medium" pitchFamily="34" charset="-120"/>
              </a:rPr>
              <a:t>3</a:t>
            </a:r>
            <a:endParaRPr lang="en-US" sz="2100" dirty="0"/>
          </a:p>
        </p:txBody>
      </p:sp>
      <p:sp>
        <p:nvSpPr>
          <p:cNvPr id="15" name="Text 10"/>
          <p:cNvSpPr/>
          <p:nvPr/>
        </p:nvSpPr>
        <p:spPr>
          <a:xfrm>
            <a:off x="7498913" y="5911929"/>
            <a:ext cx="2707481" cy="338376"/>
          </a:xfrm>
          <a:prstGeom prst="rect">
            <a:avLst/>
          </a:prstGeom>
          <a:noFill/>
          <a:ln/>
        </p:spPr>
        <p:txBody>
          <a:bodyPr wrap="none" lIns="0" tIns="0" rIns="0" bIns="0" rtlCol="0" anchor="t"/>
          <a:lstStyle/>
          <a:p>
            <a:pPr algn="l" indent="0" marL="0">
              <a:lnSpc>
                <a:spcPts val="2650"/>
              </a:lnSpc>
              <a:buNone/>
            </a:pPr>
            <a:r>
              <a:rPr lang="en-US" sz="2100" dirty="0">
                <a:solidFill>
                  <a:srgbClr val="E0D6DE"/>
                </a:solidFill>
                <a:latin typeface="Sora Medium" pitchFamily="34" charset="0"/>
                <a:ea typeface="Sora Medium" pitchFamily="34" charset="-122"/>
                <a:cs typeface="Sora Medium" pitchFamily="34" charset="-120"/>
              </a:rPr>
              <a:t>Purpose</a:t>
            </a:r>
            <a:endParaRPr lang="en-US" sz="2100" dirty="0"/>
          </a:p>
        </p:txBody>
      </p:sp>
      <p:sp>
        <p:nvSpPr>
          <p:cNvPr id="16" name="Text 11"/>
          <p:cNvSpPr/>
          <p:nvPr/>
        </p:nvSpPr>
        <p:spPr>
          <a:xfrm>
            <a:off x="7498913" y="6380202"/>
            <a:ext cx="6156841" cy="1039416"/>
          </a:xfrm>
          <a:prstGeom prst="rect">
            <a:avLst/>
          </a:prstGeom>
          <a:noFill/>
          <a:ln/>
        </p:spPr>
        <p:txBody>
          <a:bodyPr wrap="square" lIns="0" tIns="0" rIns="0" bIns="0" rtlCol="0" anchor="t"/>
          <a:lstStyle/>
          <a:p>
            <a:pPr algn="l" indent="0" marL="0">
              <a:lnSpc>
                <a:spcPts val="2700"/>
              </a:lnSpc>
              <a:buNone/>
            </a:pPr>
            <a:r>
              <a:rPr lang="en-US" sz="1700" dirty="0">
                <a:solidFill>
                  <a:srgbClr val="E0D6DE"/>
                </a:solidFill>
                <a:latin typeface="Noto Sans TC" pitchFamily="34" charset="0"/>
                <a:ea typeface="Noto Sans TC" pitchFamily="34" charset="-122"/>
                <a:cs typeface="Noto Sans TC" pitchFamily="34" charset="-120"/>
              </a:rPr>
              <a:t>Understanding the purpose of the information, whether it's a message, a command, or data, shapes how we interact with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899755"/>
            <a:ext cx="6164818" cy="708779"/>
          </a:xfrm>
          <a:prstGeom prst="rect">
            <a:avLst/>
          </a:prstGeom>
          <a:noFill/>
          <a:ln/>
        </p:spPr>
        <p:txBody>
          <a:bodyPr wrap="none" lIns="0" tIns="0" rIns="0" bIns="0" rtlCol="0" anchor="t"/>
          <a:lstStyle/>
          <a:p>
            <a:pPr indent="0" marL="0">
              <a:lnSpc>
                <a:spcPts val="5550"/>
              </a:lnSpc>
              <a:buNone/>
            </a:pPr>
            <a:r>
              <a:rPr lang="en-US" sz="4450" dirty="0">
                <a:solidFill>
                  <a:srgbClr val="97B8FF"/>
                </a:solidFill>
                <a:latin typeface="Sora Medium" pitchFamily="34" charset="0"/>
                <a:ea typeface="Sora Medium" pitchFamily="34" charset="-122"/>
                <a:cs typeface="Sora Medium" pitchFamily="34" charset="-120"/>
              </a:rPr>
              <a:t>Real-World Examples</a:t>
            </a:r>
            <a:endParaRPr lang="en-US" sz="4450" dirty="0"/>
          </a:p>
        </p:txBody>
      </p:sp>
      <p:sp>
        <p:nvSpPr>
          <p:cNvPr id="4" name="Shape 1"/>
          <p:cNvSpPr/>
          <p:nvPr/>
        </p:nvSpPr>
        <p:spPr>
          <a:xfrm>
            <a:off x="6280190" y="1948696"/>
            <a:ext cx="3664863" cy="3121462"/>
          </a:xfrm>
          <a:prstGeom prst="roundRect">
            <a:avLst>
              <a:gd name="adj" fmla="val 1090"/>
            </a:avLst>
          </a:prstGeom>
          <a:solidFill>
            <a:srgbClr val="26262B"/>
          </a:solidFill>
          <a:ln/>
        </p:spPr>
      </p:sp>
      <p:sp>
        <p:nvSpPr>
          <p:cNvPr id="5" name="Text 2"/>
          <p:cNvSpPr/>
          <p:nvPr/>
        </p:nvSpPr>
        <p:spPr>
          <a:xfrm>
            <a:off x="6507004" y="2175510"/>
            <a:ext cx="2835235"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Web Pages</a:t>
            </a:r>
            <a:endParaRPr lang="en-US" sz="2200" dirty="0"/>
          </a:p>
        </p:txBody>
      </p:sp>
      <p:sp>
        <p:nvSpPr>
          <p:cNvPr id="6" name="Text 3"/>
          <p:cNvSpPr/>
          <p:nvPr/>
        </p:nvSpPr>
        <p:spPr>
          <a:xfrm>
            <a:off x="6507004" y="2665928"/>
            <a:ext cx="3211235" cy="2177415"/>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A webpage's HTML code is a collection of bits that represent the layout, content, and interactions when viewed within the context of a web browser.</a:t>
            </a:r>
            <a:endParaRPr lang="en-US" sz="1750" dirty="0"/>
          </a:p>
        </p:txBody>
      </p:sp>
      <p:sp>
        <p:nvSpPr>
          <p:cNvPr id="7" name="Shape 4"/>
          <p:cNvSpPr/>
          <p:nvPr/>
        </p:nvSpPr>
        <p:spPr>
          <a:xfrm>
            <a:off x="10171867" y="1948696"/>
            <a:ext cx="3664863" cy="3121462"/>
          </a:xfrm>
          <a:prstGeom prst="roundRect">
            <a:avLst>
              <a:gd name="adj" fmla="val 1090"/>
            </a:avLst>
          </a:prstGeom>
          <a:solidFill>
            <a:srgbClr val="26262B"/>
          </a:solidFill>
          <a:ln/>
        </p:spPr>
      </p:sp>
      <p:sp>
        <p:nvSpPr>
          <p:cNvPr id="8" name="Text 5"/>
          <p:cNvSpPr/>
          <p:nvPr/>
        </p:nvSpPr>
        <p:spPr>
          <a:xfrm>
            <a:off x="10398681" y="2175510"/>
            <a:ext cx="2835235"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Music Files</a:t>
            </a:r>
            <a:endParaRPr lang="en-US" sz="2200" dirty="0"/>
          </a:p>
        </p:txBody>
      </p:sp>
      <p:sp>
        <p:nvSpPr>
          <p:cNvPr id="9" name="Text 6"/>
          <p:cNvSpPr/>
          <p:nvPr/>
        </p:nvSpPr>
        <p:spPr>
          <a:xfrm>
            <a:off x="10398681" y="2665928"/>
            <a:ext cx="3211235" cy="1814513"/>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A music file's bits are arranged according to a specific audio format like MP3 or FLAC, enabling a device to decode the bits into sound waves.</a:t>
            </a:r>
            <a:endParaRPr lang="en-US" sz="1750" dirty="0"/>
          </a:p>
        </p:txBody>
      </p:sp>
      <p:sp>
        <p:nvSpPr>
          <p:cNvPr id="10" name="Shape 7"/>
          <p:cNvSpPr/>
          <p:nvPr/>
        </p:nvSpPr>
        <p:spPr>
          <a:xfrm>
            <a:off x="6280190" y="5296972"/>
            <a:ext cx="7556421" cy="2032754"/>
          </a:xfrm>
          <a:prstGeom prst="roundRect">
            <a:avLst>
              <a:gd name="adj" fmla="val 1674"/>
            </a:avLst>
          </a:prstGeom>
          <a:solidFill>
            <a:srgbClr val="26262B"/>
          </a:solidFill>
          <a:ln/>
        </p:spPr>
      </p:sp>
      <p:sp>
        <p:nvSpPr>
          <p:cNvPr id="11" name="Text 8"/>
          <p:cNvSpPr/>
          <p:nvPr/>
        </p:nvSpPr>
        <p:spPr>
          <a:xfrm>
            <a:off x="6507004" y="5523786"/>
            <a:ext cx="2835235" cy="354330"/>
          </a:xfrm>
          <a:prstGeom prst="rect">
            <a:avLst/>
          </a:prstGeom>
          <a:noFill/>
          <a:ln/>
        </p:spPr>
        <p:txBody>
          <a:bodyPr wrap="none" lIns="0" tIns="0" rIns="0" bIns="0" rtlCol="0" anchor="t"/>
          <a:lstStyle/>
          <a:p>
            <a:pPr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Digital Photos</a:t>
            </a:r>
            <a:endParaRPr lang="en-US" sz="2200" dirty="0"/>
          </a:p>
        </p:txBody>
      </p:sp>
      <p:sp>
        <p:nvSpPr>
          <p:cNvPr id="12" name="Text 9"/>
          <p:cNvSpPr/>
          <p:nvPr/>
        </p:nvSpPr>
        <p:spPr>
          <a:xfrm>
            <a:off x="6507004" y="6014204"/>
            <a:ext cx="7102793" cy="1088708"/>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The pixels of a digital image are represented by bits, but their meaning is determined by the context of the image format, color palette, and compression techniques.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66179"/>
          </a:xfrm>
          <a:prstGeom prst="rect">
            <a:avLst/>
          </a:prstGeom>
        </p:spPr>
      </p:pic>
      <p:sp>
        <p:nvSpPr>
          <p:cNvPr id="3" name="Text 0"/>
          <p:cNvSpPr/>
          <p:nvPr/>
        </p:nvSpPr>
        <p:spPr>
          <a:xfrm>
            <a:off x="774502" y="3375065"/>
            <a:ext cx="8711803" cy="691515"/>
          </a:xfrm>
          <a:prstGeom prst="rect">
            <a:avLst/>
          </a:prstGeom>
          <a:noFill/>
          <a:ln/>
        </p:spPr>
        <p:txBody>
          <a:bodyPr wrap="none" lIns="0" tIns="0" rIns="0" bIns="0" rtlCol="0" anchor="t"/>
          <a:lstStyle/>
          <a:p>
            <a:pPr indent="0" marL="0">
              <a:lnSpc>
                <a:spcPts val="5400"/>
              </a:lnSpc>
              <a:buNone/>
            </a:pPr>
            <a:r>
              <a:rPr lang="en-US" sz="4350" dirty="0">
                <a:solidFill>
                  <a:srgbClr val="97B8FF"/>
                </a:solidFill>
                <a:latin typeface="Sora Medium" pitchFamily="34" charset="0"/>
                <a:ea typeface="Sora Medium" pitchFamily="34" charset="-122"/>
                <a:cs typeface="Sora Medium" pitchFamily="34" charset="-120"/>
              </a:rPr>
              <a:t>Translation in the Digital World</a:t>
            </a:r>
            <a:endParaRPr lang="en-US" sz="4350" dirty="0"/>
          </a:p>
        </p:txBody>
      </p:sp>
      <p:sp>
        <p:nvSpPr>
          <p:cNvPr id="4" name="Shape 1"/>
          <p:cNvSpPr/>
          <p:nvPr/>
        </p:nvSpPr>
        <p:spPr>
          <a:xfrm>
            <a:off x="774502" y="4730234"/>
            <a:ext cx="13081397" cy="30480"/>
          </a:xfrm>
          <a:prstGeom prst="roundRect">
            <a:avLst>
              <a:gd name="adj" fmla="val 108905"/>
            </a:avLst>
          </a:prstGeom>
          <a:solidFill>
            <a:srgbClr val="3F3F44"/>
          </a:solidFill>
          <a:ln/>
        </p:spPr>
      </p:sp>
      <p:sp>
        <p:nvSpPr>
          <p:cNvPr id="5" name="Shape 2"/>
          <p:cNvSpPr/>
          <p:nvPr/>
        </p:nvSpPr>
        <p:spPr>
          <a:xfrm>
            <a:off x="2865596" y="4730175"/>
            <a:ext cx="30480" cy="774502"/>
          </a:xfrm>
          <a:prstGeom prst="roundRect">
            <a:avLst>
              <a:gd name="adj" fmla="val 108905"/>
            </a:avLst>
          </a:prstGeom>
          <a:solidFill>
            <a:srgbClr val="3F3F44"/>
          </a:solidFill>
          <a:ln/>
        </p:spPr>
      </p:sp>
      <p:sp>
        <p:nvSpPr>
          <p:cNvPr id="6" name="Shape 3"/>
          <p:cNvSpPr/>
          <p:nvPr/>
        </p:nvSpPr>
        <p:spPr>
          <a:xfrm>
            <a:off x="2631996" y="4481334"/>
            <a:ext cx="497800" cy="497800"/>
          </a:xfrm>
          <a:prstGeom prst="roundRect">
            <a:avLst>
              <a:gd name="adj" fmla="val 6668"/>
            </a:avLst>
          </a:prstGeom>
          <a:solidFill>
            <a:srgbClr val="26262B"/>
          </a:solidFill>
          <a:ln/>
        </p:spPr>
      </p:sp>
      <p:sp>
        <p:nvSpPr>
          <p:cNvPr id="7" name="Text 4"/>
          <p:cNvSpPr/>
          <p:nvPr/>
        </p:nvSpPr>
        <p:spPr>
          <a:xfrm>
            <a:off x="2810708" y="4564201"/>
            <a:ext cx="140375" cy="331946"/>
          </a:xfrm>
          <a:prstGeom prst="rect">
            <a:avLst/>
          </a:prstGeom>
          <a:noFill/>
          <a:ln/>
        </p:spPr>
        <p:txBody>
          <a:bodyPr wrap="none" lIns="0" tIns="0" rIns="0" bIns="0" rtlCol="0" anchor="t"/>
          <a:lstStyle/>
          <a:p>
            <a:pPr algn="ctr" indent="0" marL="0">
              <a:lnSpc>
                <a:spcPts val="2600"/>
              </a:lnSpc>
              <a:buNone/>
            </a:pPr>
            <a:r>
              <a:rPr lang="en-US" sz="2600" dirty="0">
                <a:solidFill>
                  <a:srgbClr val="E0D6DE"/>
                </a:solidFill>
                <a:latin typeface="Sora Medium" pitchFamily="34" charset="0"/>
                <a:ea typeface="Sora Medium" pitchFamily="34" charset="-122"/>
                <a:cs typeface="Sora Medium" pitchFamily="34" charset="-120"/>
              </a:rPr>
              <a:t>1</a:t>
            </a:r>
            <a:endParaRPr lang="en-US" sz="2600" dirty="0"/>
          </a:p>
        </p:txBody>
      </p:sp>
      <p:sp>
        <p:nvSpPr>
          <p:cNvPr id="8" name="Text 5"/>
          <p:cNvSpPr/>
          <p:nvPr/>
        </p:nvSpPr>
        <p:spPr>
          <a:xfrm>
            <a:off x="1497806" y="5725954"/>
            <a:ext cx="2766179" cy="345638"/>
          </a:xfrm>
          <a:prstGeom prst="rect">
            <a:avLst/>
          </a:prstGeom>
          <a:noFill/>
          <a:ln/>
        </p:spPr>
        <p:txBody>
          <a:bodyPr wrap="none" lIns="0" tIns="0" rIns="0" bIns="0" rtlCol="0" anchor="t"/>
          <a:lstStyle/>
          <a:p>
            <a:pPr algn="ctr" indent="0" marL="0">
              <a:lnSpc>
                <a:spcPts val="2700"/>
              </a:lnSpc>
              <a:buNone/>
            </a:pPr>
            <a:r>
              <a:rPr lang="en-US" sz="2150" dirty="0">
                <a:solidFill>
                  <a:srgbClr val="E0D6DE"/>
                </a:solidFill>
                <a:latin typeface="Sora Medium" pitchFamily="34" charset="0"/>
                <a:ea typeface="Sora Medium" pitchFamily="34" charset="-122"/>
                <a:cs typeface="Sora Medium" pitchFamily="34" charset="-120"/>
              </a:rPr>
              <a:t>Source Code</a:t>
            </a:r>
            <a:endParaRPr lang="en-US" sz="2150" dirty="0"/>
          </a:p>
        </p:txBody>
      </p:sp>
      <p:sp>
        <p:nvSpPr>
          <p:cNvPr id="9" name="Text 6"/>
          <p:cNvSpPr/>
          <p:nvPr/>
        </p:nvSpPr>
        <p:spPr>
          <a:xfrm>
            <a:off x="995720" y="6204347"/>
            <a:ext cx="3770471" cy="708184"/>
          </a:xfrm>
          <a:prstGeom prst="rect">
            <a:avLst/>
          </a:prstGeom>
          <a:noFill/>
          <a:ln/>
        </p:spPr>
        <p:txBody>
          <a:bodyPr wrap="square" lIns="0" tIns="0" rIns="0" bIns="0" rtlCol="0" anchor="t"/>
          <a:lstStyle/>
          <a:p>
            <a:pPr algn="ctr" indent="0" marL="0">
              <a:lnSpc>
                <a:spcPts val="2750"/>
              </a:lnSpc>
              <a:buNone/>
            </a:pPr>
            <a:r>
              <a:rPr lang="en-US" sz="1700" dirty="0">
                <a:solidFill>
                  <a:srgbClr val="E0D6DE"/>
                </a:solidFill>
                <a:latin typeface="Noto Sans TC" pitchFamily="34" charset="0"/>
                <a:ea typeface="Noto Sans TC" pitchFamily="34" charset="-122"/>
                <a:cs typeface="Noto Sans TC" pitchFamily="34" charset="-120"/>
              </a:rPr>
              <a:t>Human-readable instructions written in a programming language.</a:t>
            </a:r>
            <a:endParaRPr lang="en-US" sz="1700" dirty="0"/>
          </a:p>
        </p:txBody>
      </p:sp>
      <p:sp>
        <p:nvSpPr>
          <p:cNvPr id="10" name="Shape 7"/>
          <p:cNvSpPr/>
          <p:nvPr/>
        </p:nvSpPr>
        <p:spPr>
          <a:xfrm>
            <a:off x="7299722" y="4730175"/>
            <a:ext cx="30480" cy="774502"/>
          </a:xfrm>
          <a:prstGeom prst="roundRect">
            <a:avLst>
              <a:gd name="adj" fmla="val 108905"/>
            </a:avLst>
          </a:prstGeom>
          <a:solidFill>
            <a:srgbClr val="3F3F44"/>
          </a:solidFill>
          <a:ln/>
        </p:spPr>
      </p:sp>
      <p:sp>
        <p:nvSpPr>
          <p:cNvPr id="11" name="Shape 8"/>
          <p:cNvSpPr/>
          <p:nvPr/>
        </p:nvSpPr>
        <p:spPr>
          <a:xfrm>
            <a:off x="7066121" y="4481334"/>
            <a:ext cx="497800" cy="497800"/>
          </a:xfrm>
          <a:prstGeom prst="roundRect">
            <a:avLst>
              <a:gd name="adj" fmla="val 6668"/>
            </a:avLst>
          </a:prstGeom>
          <a:solidFill>
            <a:srgbClr val="26262B"/>
          </a:solidFill>
          <a:ln/>
        </p:spPr>
      </p:sp>
      <p:sp>
        <p:nvSpPr>
          <p:cNvPr id="12" name="Text 9"/>
          <p:cNvSpPr/>
          <p:nvPr/>
        </p:nvSpPr>
        <p:spPr>
          <a:xfrm>
            <a:off x="7211616" y="4564201"/>
            <a:ext cx="206812" cy="331946"/>
          </a:xfrm>
          <a:prstGeom prst="rect">
            <a:avLst/>
          </a:prstGeom>
          <a:noFill/>
          <a:ln/>
        </p:spPr>
        <p:txBody>
          <a:bodyPr wrap="none" lIns="0" tIns="0" rIns="0" bIns="0" rtlCol="0" anchor="t"/>
          <a:lstStyle/>
          <a:p>
            <a:pPr algn="ctr" indent="0" marL="0">
              <a:lnSpc>
                <a:spcPts val="2600"/>
              </a:lnSpc>
              <a:buNone/>
            </a:pPr>
            <a:r>
              <a:rPr lang="en-US" sz="2600" dirty="0">
                <a:solidFill>
                  <a:srgbClr val="E0D6DE"/>
                </a:solidFill>
                <a:latin typeface="Sora Medium" pitchFamily="34" charset="0"/>
                <a:ea typeface="Sora Medium" pitchFamily="34" charset="-122"/>
                <a:cs typeface="Sora Medium" pitchFamily="34" charset="-120"/>
              </a:rPr>
              <a:t>2</a:t>
            </a:r>
            <a:endParaRPr lang="en-US" sz="2600" dirty="0"/>
          </a:p>
        </p:txBody>
      </p:sp>
      <p:sp>
        <p:nvSpPr>
          <p:cNvPr id="13" name="Text 10"/>
          <p:cNvSpPr/>
          <p:nvPr/>
        </p:nvSpPr>
        <p:spPr>
          <a:xfrm>
            <a:off x="5932051" y="5725954"/>
            <a:ext cx="2766179" cy="345638"/>
          </a:xfrm>
          <a:prstGeom prst="rect">
            <a:avLst/>
          </a:prstGeom>
          <a:noFill/>
          <a:ln/>
        </p:spPr>
        <p:txBody>
          <a:bodyPr wrap="none" lIns="0" tIns="0" rIns="0" bIns="0" rtlCol="0" anchor="t"/>
          <a:lstStyle/>
          <a:p>
            <a:pPr algn="ctr" indent="0" marL="0">
              <a:lnSpc>
                <a:spcPts val="2700"/>
              </a:lnSpc>
              <a:buNone/>
            </a:pPr>
            <a:r>
              <a:rPr lang="en-US" sz="2150" dirty="0">
                <a:solidFill>
                  <a:srgbClr val="E0D6DE"/>
                </a:solidFill>
                <a:latin typeface="Sora Medium" pitchFamily="34" charset="0"/>
                <a:ea typeface="Sora Medium" pitchFamily="34" charset="-122"/>
                <a:cs typeface="Sora Medium" pitchFamily="34" charset="-120"/>
              </a:rPr>
              <a:t>Machine Code</a:t>
            </a:r>
            <a:endParaRPr lang="en-US" sz="2150" dirty="0"/>
          </a:p>
        </p:txBody>
      </p:sp>
      <p:sp>
        <p:nvSpPr>
          <p:cNvPr id="14" name="Text 11"/>
          <p:cNvSpPr/>
          <p:nvPr/>
        </p:nvSpPr>
        <p:spPr>
          <a:xfrm>
            <a:off x="5429845" y="6204347"/>
            <a:ext cx="3770590" cy="1062276"/>
          </a:xfrm>
          <a:prstGeom prst="rect">
            <a:avLst/>
          </a:prstGeom>
          <a:noFill/>
          <a:ln/>
        </p:spPr>
        <p:txBody>
          <a:bodyPr wrap="square" lIns="0" tIns="0" rIns="0" bIns="0" rtlCol="0" anchor="t"/>
          <a:lstStyle/>
          <a:p>
            <a:pPr algn="ctr" indent="0" marL="0">
              <a:lnSpc>
                <a:spcPts val="2750"/>
              </a:lnSpc>
              <a:buNone/>
            </a:pPr>
            <a:r>
              <a:rPr lang="en-US" sz="1700" dirty="0">
                <a:solidFill>
                  <a:srgbClr val="E0D6DE"/>
                </a:solidFill>
                <a:latin typeface="Noto Sans TC" pitchFamily="34" charset="0"/>
                <a:ea typeface="Noto Sans TC" pitchFamily="34" charset="-122"/>
                <a:cs typeface="Noto Sans TC" pitchFamily="34" charset="-120"/>
              </a:rPr>
              <a:t>Low-level instructions directly understood by the computer's central processing unit (CPU).</a:t>
            </a:r>
            <a:endParaRPr lang="en-US" sz="1700" dirty="0"/>
          </a:p>
        </p:txBody>
      </p:sp>
      <p:sp>
        <p:nvSpPr>
          <p:cNvPr id="15" name="Shape 12"/>
          <p:cNvSpPr/>
          <p:nvPr/>
        </p:nvSpPr>
        <p:spPr>
          <a:xfrm>
            <a:off x="11733967" y="4730175"/>
            <a:ext cx="30480" cy="774502"/>
          </a:xfrm>
          <a:prstGeom prst="roundRect">
            <a:avLst>
              <a:gd name="adj" fmla="val 108905"/>
            </a:avLst>
          </a:prstGeom>
          <a:solidFill>
            <a:srgbClr val="3F3F44"/>
          </a:solidFill>
          <a:ln/>
        </p:spPr>
      </p:sp>
      <p:sp>
        <p:nvSpPr>
          <p:cNvPr id="16" name="Shape 13"/>
          <p:cNvSpPr/>
          <p:nvPr/>
        </p:nvSpPr>
        <p:spPr>
          <a:xfrm>
            <a:off x="11500366" y="4481334"/>
            <a:ext cx="497800" cy="497800"/>
          </a:xfrm>
          <a:prstGeom prst="roundRect">
            <a:avLst>
              <a:gd name="adj" fmla="val 6668"/>
            </a:avLst>
          </a:prstGeom>
          <a:solidFill>
            <a:srgbClr val="26262B"/>
          </a:solidFill>
          <a:ln/>
        </p:spPr>
      </p:sp>
      <p:sp>
        <p:nvSpPr>
          <p:cNvPr id="17" name="Text 14"/>
          <p:cNvSpPr/>
          <p:nvPr/>
        </p:nvSpPr>
        <p:spPr>
          <a:xfrm>
            <a:off x="11646337" y="4564201"/>
            <a:ext cx="205740" cy="331946"/>
          </a:xfrm>
          <a:prstGeom prst="rect">
            <a:avLst/>
          </a:prstGeom>
          <a:noFill/>
          <a:ln/>
        </p:spPr>
        <p:txBody>
          <a:bodyPr wrap="none" lIns="0" tIns="0" rIns="0" bIns="0" rtlCol="0" anchor="t"/>
          <a:lstStyle/>
          <a:p>
            <a:pPr algn="ctr" indent="0" marL="0">
              <a:lnSpc>
                <a:spcPts val="2600"/>
              </a:lnSpc>
              <a:buNone/>
            </a:pPr>
            <a:r>
              <a:rPr lang="en-US" sz="2600" dirty="0">
                <a:solidFill>
                  <a:srgbClr val="E0D6DE"/>
                </a:solidFill>
                <a:latin typeface="Sora Medium" pitchFamily="34" charset="0"/>
                <a:ea typeface="Sora Medium" pitchFamily="34" charset="-122"/>
                <a:cs typeface="Sora Medium" pitchFamily="34" charset="-120"/>
              </a:rPr>
              <a:t>3</a:t>
            </a:r>
            <a:endParaRPr lang="en-US" sz="2600" dirty="0"/>
          </a:p>
        </p:txBody>
      </p:sp>
      <p:sp>
        <p:nvSpPr>
          <p:cNvPr id="18" name="Text 15"/>
          <p:cNvSpPr/>
          <p:nvPr/>
        </p:nvSpPr>
        <p:spPr>
          <a:xfrm>
            <a:off x="10366296" y="5725954"/>
            <a:ext cx="2766179" cy="345638"/>
          </a:xfrm>
          <a:prstGeom prst="rect">
            <a:avLst/>
          </a:prstGeom>
          <a:noFill/>
          <a:ln/>
        </p:spPr>
        <p:txBody>
          <a:bodyPr wrap="none" lIns="0" tIns="0" rIns="0" bIns="0" rtlCol="0" anchor="t"/>
          <a:lstStyle/>
          <a:p>
            <a:pPr algn="ctr" indent="0" marL="0">
              <a:lnSpc>
                <a:spcPts val="2700"/>
              </a:lnSpc>
              <a:buNone/>
            </a:pPr>
            <a:r>
              <a:rPr lang="en-US" sz="2150" dirty="0">
                <a:solidFill>
                  <a:srgbClr val="E0D6DE"/>
                </a:solidFill>
                <a:latin typeface="Sora Medium" pitchFamily="34" charset="0"/>
                <a:ea typeface="Sora Medium" pitchFamily="34" charset="-122"/>
                <a:cs typeface="Sora Medium" pitchFamily="34" charset="-120"/>
              </a:rPr>
              <a:t>Translation</a:t>
            </a:r>
            <a:endParaRPr lang="en-US" sz="2150" dirty="0"/>
          </a:p>
        </p:txBody>
      </p:sp>
      <p:sp>
        <p:nvSpPr>
          <p:cNvPr id="19" name="Text 16"/>
          <p:cNvSpPr/>
          <p:nvPr/>
        </p:nvSpPr>
        <p:spPr>
          <a:xfrm>
            <a:off x="9864090" y="6204347"/>
            <a:ext cx="3770590" cy="1416368"/>
          </a:xfrm>
          <a:prstGeom prst="rect">
            <a:avLst/>
          </a:prstGeom>
          <a:noFill/>
          <a:ln/>
        </p:spPr>
        <p:txBody>
          <a:bodyPr wrap="square" lIns="0" tIns="0" rIns="0" bIns="0" rtlCol="0" anchor="t"/>
          <a:lstStyle/>
          <a:p>
            <a:pPr algn="ctr" indent="0" marL="0">
              <a:lnSpc>
                <a:spcPts val="2750"/>
              </a:lnSpc>
              <a:buNone/>
            </a:pPr>
            <a:r>
              <a:rPr lang="en-US" sz="1700" dirty="0">
                <a:solidFill>
                  <a:srgbClr val="E0D6DE"/>
                </a:solidFill>
                <a:latin typeface="Noto Sans TC" pitchFamily="34" charset="0"/>
                <a:ea typeface="Noto Sans TC" pitchFamily="34" charset="-122"/>
                <a:cs typeface="Noto Sans TC" pitchFamily="34" charset="-120"/>
              </a:rPr>
              <a:t>Programs called compilers, assemblers, and interpreters bridge the gap between source code and machine code.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96923"/>
            <a:ext cx="6352461" cy="708779"/>
          </a:xfrm>
          <a:prstGeom prst="rect">
            <a:avLst/>
          </a:prstGeom>
          <a:noFill/>
          <a:ln/>
        </p:spPr>
        <p:txBody>
          <a:bodyPr wrap="none" lIns="0" tIns="0" rIns="0" bIns="0" rtlCol="0" anchor="t"/>
          <a:lstStyle/>
          <a:p>
            <a:pPr indent="0" marL="0">
              <a:lnSpc>
                <a:spcPts val="5550"/>
              </a:lnSpc>
              <a:buNone/>
            </a:pPr>
            <a:r>
              <a:rPr lang="en-US" sz="4450" dirty="0">
                <a:solidFill>
                  <a:srgbClr val="97B8FF"/>
                </a:solidFill>
                <a:latin typeface="Sora Medium" pitchFamily="34" charset="0"/>
                <a:ea typeface="Sora Medium" pitchFamily="34" charset="-122"/>
                <a:cs typeface="Sora Medium" pitchFamily="34" charset="-120"/>
              </a:rPr>
              <a:t>The Role of Compilers</a:t>
            </a:r>
            <a:endParaRPr lang="en-US" sz="4450" dirty="0"/>
          </a:p>
        </p:txBody>
      </p:sp>
      <p:sp>
        <p:nvSpPr>
          <p:cNvPr id="3" name="Shape 1"/>
          <p:cNvSpPr/>
          <p:nvPr/>
        </p:nvSpPr>
        <p:spPr>
          <a:xfrm>
            <a:off x="793790" y="2259330"/>
            <a:ext cx="2173724" cy="1306949"/>
          </a:xfrm>
          <a:prstGeom prst="roundRect">
            <a:avLst>
              <a:gd name="adj" fmla="val 2603"/>
            </a:avLst>
          </a:prstGeom>
          <a:solidFill>
            <a:srgbClr val="26262B"/>
          </a:solidFill>
          <a:ln/>
        </p:spPr>
      </p:sp>
      <p:sp>
        <p:nvSpPr>
          <p:cNvPr id="4" name="Text 2"/>
          <p:cNvSpPr/>
          <p:nvPr/>
        </p:nvSpPr>
        <p:spPr>
          <a:xfrm>
            <a:off x="1020604" y="2686050"/>
            <a:ext cx="119896" cy="453509"/>
          </a:xfrm>
          <a:prstGeom prst="rect">
            <a:avLst/>
          </a:prstGeom>
          <a:noFill/>
          <a:ln/>
        </p:spPr>
        <p:txBody>
          <a:bodyPr wrap="none" lIns="0" tIns="0" rIns="0" bIns="0" rtlCol="0" anchor="t"/>
          <a:lstStyle/>
          <a:p>
            <a:pPr algn="ctr" indent="0" marL="0">
              <a:lnSpc>
                <a:spcPts val="3550"/>
              </a:lnSpc>
              <a:buNone/>
            </a:pPr>
            <a:r>
              <a:rPr lang="en-US" sz="2200" dirty="0">
                <a:solidFill>
                  <a:srgbClr val="E0D6DE"/>
                </a:solidFill>
                <a:latin typeface="Sora Medium" pitchFamily="34" charset="0"/>
                <a:ea typeface="Sora Medium" pitchFamily="34" charset="-122"/>
                <a:cs typeface="Sora Medium" pitchFamily="34" charset="-120"/>
              </a:rPr>
              <a:t>1</a:t>
            </a:r>
            <a:endParaRPr lang="en-US" sz="2200" dirty="0"/>
          </a:p>
        </p:txBody>
      </p:sp>
      <p:sp>
        <p:nvSpPr>
          <p:cNvPr id="5" name="Text 3"/>
          <p:cNvSpPr/>
          <p:nvPr/>
        </p:nvSpPr>
        <p:spPr>
          <a:xfrm>
            <a:off x="3194328" y="248614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Lexical Analysis</a:t>
            </a:r>
            <a:endParaRPr lang="en-US" sz="2200" dirty="0"/>
          </a:p>
        </p:txBody>
      </p:sp>
      <p:sp>
        <p:nvSpPr>
          <p:cNvPr id="6" name="Text 4"/>
          <p:cNvSpPr/>
          <p:nvPr/>
        </p:nvSpPr>
        <p:spPr>
          <a:xfrm>
            <a:off x="3194328" y="2976563"/>
            <a:ext cx="9002792" cy="362903"/>
          </a:xfrm>
          <a:prstGeom prst="rect">
            <a:avLst/>
          </a:prstGeom>
          <a:noFill/>
          <a:ln/>
        </p:spPr>
        <p:txBody>
          <a:bodyPr wrap="none" lIns="0" tIns="0" rIns="0" bIns="0" rtlCol="0" anchor="t"/>
          <a:lstStyle/>
          <a:p>
            <a:pPr algn="l"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Breaking down source code into individual tokens (words, symbols) to identify syntax.</a:t>
            </a:r>
            <a:endParaRPr lang="en-US" sz="1750" dirty="0"/>
          </a:p>
        </p:txBody>
      </p:sp>
      <p:sp>
        <p:nvSpPr>
          <p:cNvPr id="7" name="Shape 5"/>
          <p:cNvSpPr/>
          <p:nvPr/>
        </p:nvSpPr>
        <p:spPr>
          <a:xfrm>
            <a:off x="3080861" y="3551039"/>
            <a:ext cx="10642402" cy="15240"/>
          </a:xfrm>
          <a:prstGeom prst="roundRect">
            <a:avLst>
              <a:gd name="adj" fmla="val 223256"/>
            </a:avLst>
          </a:prstGeom>
          <a:solidFill>
            <a:srgbClr val="3F3F44"/>
          </a:solidFill>
          <a:ln/>
        </p:spPr>
      </p:sp>
      <p:sp>
        <p:nvSpPr>
          <p:cNvPr id="8" name="Shape 6"/>
          <p:cNvSpPr/>
          <p:nvPr/>
        </p:nvSpPr>
        <p:spPr>
          <a:xfrm>
            <a:off x="793790" y="3679627"/>
            <a:ext cx="4347567" cy="1669852"/>
          </a:xfrm>
          <a:prstGeom prst="roundRect">
            <a:avLst>
              <a:gd name="adj" fmla="val 2038"/>
            </a:avLst>
          </a:prstGeom>
          <a:solidFill>
            <a:srgbClr val="26262B"/>
          </a:solidFill>
          <a:ln/>
        </p:spPr>
      </p:sp>
      <p:sp>
        <p:nvSpPr>
          <p:cNvPr id="9" name="Text 7"/>
          <p:cNvSpPr/>
          <p:nvPr/>
        </p:nvSpPr>
        <p:spPr>
          <a:xfrm>
            <a:off x="1020604" y="4287798"/>
            <a:ext cx="176570" cy="453509"/>
          </a:xfrm>
          <a:prstGeom prst="rect">
            <a:avLst/>
          </a:prstGeom>
          <a:noFill/>
          <a:ln/>
        </p:spPr>
        <p:txBody>
          <a:bodyPr wrap="none" lIns="0" tIns="0" rIns="0" bIns="0" rtlCol="0" anchor="t"/>
          <a:lstStyle/>
          <a:p>
            <a:pPr algn="ctr" indent="0" marL="0">
              <a:lnSpc>
                <a:spcPts val="3550"/>
              </a:lnSpc>
              <a:buNone/>
            </a:pPr>
            <a:r>
              <a:rPr lang="en-US" sz="2200" dirty="0">
                <a:solidFill>
                  <a:srgbClr val="E0D6DE"/>
                </a:solidFill>
                <a:latin typeface="Sora Medium" pitchFamily="34" charset="0"/>
                <a:ea typeface="Sora Medium" pitchFamily="34" charset="-122"/>
                <a:cs typeface="Sora Medium" pitchFamily="34" charset="-120"/>
              </a:rPr>
              <a:t>2</a:t>
            </a:r>
            <a:endParaRPr lang="en-US" sz="2200" dirty="0"/>
          </a:p>
        </p:txBody>
      </p:sp>
      <p:sp>
        <p:nvSpPr>
          <p:cNvPr id="10" name="Text 8"/>
          <p:cNvSpPr/>
          <p:nvPr/>
        </p:nvSpPr>
        <p:spPr>
          <a:xfrm>
            <a:off x="5368171" y="390644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Parsing</a:t>
            </a:r>
            <a:endParaRPr lang="en-US" sz="2200" dirty="0"/>
          </a:p>
        </p:txBody>
      </p:sp>
      <p:sp>
        <p:nvSpPr>
          <p:cNvPr id="11" name="Text 9"/>
          <p:cNvSpPr/>
          <p:nvPr/>
        </p:nvSpPr>
        <p:spPr>
          <a:xfrm>
            <a:off x="5368171" y="4396859"/>
            <a:ext cx="8241625" cy="725805"/>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Analyzing the structure of the program and ensuring it adheres to grammar rules.</a:t>
            </a:r>
            <a:endParaRPr lang="en-US" sz="1750" dirty="0"/>
          </a:p>
        </p:txBody>
      </p:sp>
      <p:sp>
        <p:nvSpPr>
          <p:cNvPr id="12" name="Shape 10"/>
          <p:cNvSpPr/>
          <p:nvPr/>
        </p:nvSpPr>
        <p:spPr>
          <a:xfrm>
            <a:off x="5254704" y="5334238"/>
            <a:ext cx="8468558" cy="15240"/>
          </a:xfrm>
          <a:prstGeom prst="roundRect">
            <a:avLst>
              <a:gd name="adj" fmla="val 223256"/>
            </a:avLst>
          </a:prstGeom>
          <a:solidFill>
            <a:srgbClr val="3F3F44"/>
          </a:solidFill>
          <a:ln/>
        </p:spPr>
      </p:sp>
      <p:sp>
        <p:nvSpPr>
          <p:cNvPr id="13" name="Shape 11"/>
          <p:cNvSpPr/>
          <p:nvPr/>
        </p:nvSpPr>
        <p:spPr>
          <a:xfrm>
            <a:off x="793790" y="5462826"/>
            <a:ext cx="6521410" cy="1669852"/>
          </a:xfrm>
          <a:prstGeom prst="roundRect">
            <a:avLst>
              <a:gd name="adj" fmla="val 2038"/>
            </a:avLst>
          </a:prstGeom>
          <a:solidFill>
            <a:srgbClr val="26262B"/>
          </a:solidFill>
          <a:ln/>
        </p:spPr>
      </p:sp>
      <p:sp>
        <p:nvSpPr>
          <p:cNvPr id="14" name="Text 12"/>
          <p:cNvSpPr/>
          <p:nvPr/>
        </p:nvSpPr>
        <p:spPr>
          <a:xfrm>
            <a:off x="1020604" y="6070997"/>
            <a:ext cx="175736" cy="453509"/>
          </a:xfrm>
          <a:prstGeom prst="rect">
            <a:avLst/>
          </a:prstGeom>
          <a:noFill/>
          <a:ln/>
        </p:spPr>
        <p:txBody>
          <a:bodyPr wrap="none" lIns="0" tIns="0" rIns="0" bIns="0" rtlCol="0" anchor="t"/>
          <a:lstStyle/>
          <a:p>
            <a:pPr algn="ctr" indent="0" marL="0">
              <a:lnSpc>
                <a:spcPts val="3550"/>
              </a:lnSpc>
              <a:buNone/>
            </a:pPr>
            <a:r>
              <a:rPr lang="en-US" sz="2200" dirty="0">
                <a:solidFill>
                  <a:srgbClr val="E0D6DE"/>
                </a:solidFill>
                <a:latin typeface="Sora Medium" pitchFamily="34" charset="0"/>
                <a:ea typeface="Sora Medium" pitchFamily="34" charset="-122"/>
                <a:cs typeface="Sora Medium" pitchFamily="34" charset="-120"/>
              </a:rPr>
              <a:t>3</a:t>
            </a:r>
            <a:endParaRPr lang="en-US" sz="2200" dirty="0"/>
          </a:p>
        </p:txBody>
      </p:sp>
      <p:sp>
        <p:nvSpPr>
          <p:cNvPr id="15" name="Text 13"/>
          <p:cNvSpPr/>
          <p:nvPr/>
        </p:nvSpPr>
        <p:spPr>
          <a:xfrm>
            <a:off x="7542014" y="568964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Code Generation</a:t>
            </a:r>
            <a:endParaRPr lang="en-US" sz="2200" dirty="0"/>
          </a:p>
        </p:txBody>
      </p:sp>
      <p:sp>
        <p:nvSpPr>
          <p:cNvPr id="16" name="Text 14"/>
          <p:cNvSpPr/>
          <p:nvPr/>
        </p:nvSpPr>
        <p:spPr>
          <a:xfrm>
            <a:off x="7542014" y="6180058"/>
            <a:ext cx="6067782" cy="725805"/>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Generating machine code that executes the program's instructions on the CPU.</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40036"/>
            <a:ext cx="7087791" cy="708779"/>
          </a:xfrm>
          <a:prstGeom prst="rect">
            <a:avLst/>
          </a:prstGeom>
          <a:noFill/>
          <a:ln/>
        </p:spPr>
        <p:txBody>
          <a:bodyPr wrap="none" lIns="0" tIns="0" rIns="0" bIns="0" rtlCol="0" anchor="t"/>
          <a:lstStyle/>
          <a:p>
            <a:pPr indent="0" marL="0">
              <a:lnSpc>
                <a:spcPts val="5550"/>
              </a:lnSpc>
              <a:buNone/>
            </a:pPr>
            <a:r>
              <a:rPr lang="en-US" sz="4450" dirty="0">
                <a:solidFill>
                  <a:srgbClr val="97B8FF"/>
                </a:solidFill>
                <a:latin typeface="Sora Medium" pitchFamily="34" charset="0"/>
                <a:ea typeface="Sora Medium" pitchFamily="34" charset="-122"/>
                <a:cs typeface="Sora Medium" pitchFamily="34" charset="-120"/>
              </a:rPr>
              <a:t>The Compilation System</a:t>
            </a:r>
            <a:endParaRPr lang="en-US" sz="4450" dirty="0"/>
          </a:p>
        </p:txBody>
      </p:sp>
      <p:pic>
        <p:nvPicPr>
          <p:cNvPr id="4" name="Image 1" descr="preencoded.png">    </p:cNvPr>
          <p:cNvPicPr>
            <a:picLocks noChangeAspect="1"/>
          </p:cNvPicPr>
          <p:nvPr/>
        </p:nvPicPr>
        <p:blipFill>
          <a:blip r:embed="rId2"/>
          <a:stretch>
            <a:fillRect/>
          </a:stretch>
        </p:blipFill>
        <p:spPr>
          <a:xfrm>
            <a:off x="793790" y="2288977"/>
            <a:ext cx="566976" cy="566976"/>
          </a:xfrm>
          <a:prstGeom prst="rect">
            <a:avLst/>
          </a:prstGeom>
        </p:spPr>
      </p:pic>
      <p:sp>
        <p:nvSpPr>
          <p:cNvPr id="5" name="Text 1"/>
          <p:cNvSpPr/>
          <p:nvPr/>
        </p:nvSpPr>
        <p:spPr>
          <a:xfrm>
            <a:off x="793790" y="308276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Source Code</a:t>
            </a:r>
            <a:endParaRPr lang="en-US" sz="2200" dirty="0"/>
          </a:p>
        </p:txBody>
      </p:sp>
      <p:sp>
        <p:nvSpPr>
          <p:cNvPr id="6" name="Text 2"/>
          <p:cNvSpPr/>
          <p:nvPr/>
        </p:nvSpPr>
        <p:spPr>
          <a:xfrm>
            <a:off x="793790" y="3573185"/>
            <a:ext cx="3608070" cy="725805"/>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Instructions written in a high-level programming language.</a:t>
            </a:r>
            <a:endParaRPr lang="en-US" sz="1750" dirty="0"/>
          </a:p>
        </p:txBody>
      </p:sp>
      <p:pic>
        <p:nvPicPr>
          <p:cNvPr id="7" name="Image 2" descr="preencoded.png">    </p:cNvPr>
          <p:cNvPicPr>
            <a:picLocks noChangeAspect="1"/>
          </p:cNvPicPr>
          <p:nvPr/>
        </p:nvPicPr>
        <p:blipFill>
          <a:blip r:embed="rId3"/>
          <a:stretch>
            <a:fillRect/>
          </a:stretch>
        </p:blipFill>
        <p:spPr>
          <a:xfrm>
            <a:off x="4742021" y="2288977"/>
            <a:ext cx="566976" cy="566976"/>
          </a:xfrm>
          <a:prstGeom prst="rect">
            <a:avLst/>
          </a:prstGeom>
        </p:spPr>
      </p:pic>
      <p:sp>
        <p:nvSpPr>
          <p:cNvPr id="8" name="Text 3"/>
          <p:cNvSpPr/>
          <p:nvPr/>
        </p:nvSpPr>
        <p:spPr>
          <a:xfrm>
            <a:off x="4742021" y="308276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Compiler</a:t>
            </a:r>
            <a:endParaRPr lang="en-US" sz="2200" dirty="0"/>
          </a:p>
        </p:txBody>
      </p:sp>
      <p:sp>
        <p:nvSpPr>
          <p:cNvPr id="9" name="Text 4"/>
          <p:cNvSpPr/>
          <p:nvPr/>
        </p:nvSpPr>
        <p:spPr>
          <a:xfrm>
            <a:off x="4742021" y="3573185"/>
            <a:ext cx="3608189" cy="725805"/>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A program that translates source code into machine code.</a:t>
            </a:r>
            <a:endParaRPr lang="en-US" sz="1750" dirty="0"/>
          </a:p>
        </p:txBody>
      </p:sp>
      <p:pic>
        <p:nvPicPr>
          <p:cNvPr id="10" name="Image 3" descr="preencoded.png">    </p:cNvPr>
          <p:cNvPicPr>
            <a:picLocks noChangeAspect="1"/>
          </p:cNvPicPr>
          <p:nvPr/>
        </p:nvPicPr>
        <p:blipFill>
          <a:blip r:embed="rId4"/>
          <a:stretch>
            <a:fillRect/>
          </a:stretch>
        </p:blipFill>
        <p:spPr>
          <a:xfrm>
            <a:off x="793790" y="4979432"/>
            <a:ext cx="566976" cy="566976"/>
          </a:xfrm>
          <a:prstGeom prst="rect">
            <a:avLst/>
          </a:prstGeom>
        </p:spPr>
      </p:pic>
      <p:sp>
        <p:nvSpPr>
          <p:cNvPr id="11" name="Text 5"/>
          <p:cNvSpPr/>
          <p:nvPr/>
        </p:nvSpPr>
        <p:spPr>
          <a:xfrm>
            <a:off x="793790" y="577322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0D6DE"/>
                </a:solidFill>
                <a:latin typeface="Sora Medium" pitchFamily="34" charset="0"/>
                <a:ea typeface="Sora Medium" pitchFamily="34" charset="-122"/>
                <a:cs typeface="Sora Medium" pitchFamily="34" charset="-120"/>
              </a:rPr>
              <a:t>Machine Code</a:t>
            </a:r>
            <a:endParaRPr lang="en-US" sz="2200" dirty="0"/>
          </a:p>
        </p:txBody>
      </p:sp>
      <p:sp>
        <p:nvSpPr>
          <p:cNvPr id="12" name="Text 6"/>
          <p:cNvSpPr/>
          <p:nvPr/>
        </p:nvSpPr>
        <p:spPr>
          <a:xfrm>
            <a:off x="793790" y="6263640"/>
            <a:ext cx="3608070" cy="725805"/>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Instructions understood by the computer's CPU.</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01489" y="562808"/>
            <a:ext cx="7713821" cy="1276826"/>
          </a:xfrm>
          <a:prstGeom prst="rect">
            <a:avLst/>
          </a:prstGeom>
          <a:noFill/>
          <a:ln/>
        </p:spPr>
        <p:txBody>
          <a:bodyPr wrap="square" lIns="0" tIns="0" rIns="0" bIns="0" rtlCol="0" anchor="t"/>
          <a:lstStyle/>
          <a:p>
            <a:pPr indent="0" marL="0">
              <a:lnSpc>
                <a:spcPts val="5000"/>
              </a:lnSpc>
              <a:buNone/>
            </a:pPr>
            <a:r>
              <a:rPr lang="en-US" sz="4000" dirty="0">
                <a:solidFill>
                  <a:srgbClr val="97B8FF"/>
                </a:solidFill>
                <a:latin typeface="Sora Medium" pitchFamily="34" charset="0"/>
                <a:ea typeface="Sora Medium" pitchFamily="34" charset="-122"/>
                <a:cs typeface="Sora Medium" pitchFamily="34" charset="-120"/>
              </a:rPr>
              <a:t>The Importance of Understanding</a:t>
            </a:r>
            <a:endParaRPr lang="en-US" sz="4000" dirty="0"/>
          </a:p>
        </p:txBody>
      </p:sp>
      <p:sp>
        <p:nvSpPr>
          <p:cNvPr id="4" name="Text 1"/>
          <p:cNvSpPr/>
          <p:nvPr/>
        </p:nvSpPr>
        <p:spPr>
          <a:xfrm>
            <a:off x="6201489" y="2248257"/>
            <a:ext cx="3703677" cy="674132"/>
          </a:xfrm>
          <a:prstGeom prst="rect">
            <a:avLst/>
          </a:prstGeom>
          <a:noFill/>
          <a:ln/>
        </p:spPr>
        <p:txBody>
          <a:bodyPr wrap="none" lIns="0" tIns="0" rIns="0" bIns="0" rtlCol="0" anchor="t"/>
          <a:lstStyle/>
          <a:p>
            <a:pPr algn="ctr" indent="0" marL="0">
              <a:lnSpc>
                <a:spcPts val="5300"/>
              </a:lnSpc>
              <a:buNone/>
            </a:pPr>
            <a:r>
              <a:rPr lang="en-US" sz="5300" dirty="0">
                <a:solidFill>
                  <a:srgbClr val="E0D6DE"/>
                </a:solidFill>
                <a:latin typeface="Sora Medium" pitchFamily="34" charset="0"/>
                <a:ea typeface="Sora Medium" pitchFamily="34" charset="-122"/>
                <a:cs typeface="Sora Medium" pitchFamily="34" charset="-120"/>
              </a:rPr>
              <a:t>1</a:t>
            </a:r>
            <a:endParaRPr lang="en-US" sz="5300" dirty="0"/>
          </a:p>
        </p:txBody>
      </p:sp>
      <p:sp>
        <p:nvSpPr>
          <p:cNvPr id="5" name="Text 2"/>
          <p:cNvSpPr/>
          <p:nvPr/>
        </p:nvSpPr>
        <p:spPr>
          <a:xfrm>
            <a:off x="6776323" y="3177778"/>
            <a:ext cx="2553891" cy="319207"/>
          </a:xfrm>
          <a:prstGeom prst="rect">
            <a:avLst/>
          </a:prstGeom>
          <a:noFill/>
          <a:ln/>
        </p:spPr>
        <p:txBody>
          <a:bodyPr wrap="none" lIns="0" tIns="0" rIns="0" bIns="0" rtlCol="0" anchor="t"/>
          <a:lstStyle/>
          <a:p>
            <a:pPr algn="ctr" indent="0" marL="0">
              <a:lnSpc>
                <a:spcPts val="2500"/>
              </a:lnSpc>
              <a:buNone/>
            </a:pPr>
            <a:r>
              <a:rPr lang="en-US" sz="2000" dirty="0">
                <a:solidFill>
                  <a:srgbClr val="E0D6DE"/>
                </a:solidFill>
                <a:latin typeface="Sora Medium" pitchFamily="34" charset="0"/>
                <a:ea typeface="Sora Medium" pitchFamily="34" charset="-122"/>
                <a:cs typeface="Sora Medium" pitchFamily="34" charset="-120"/>
              </a:rPr>
              <a:t>Optimization</a:t>
            </a:r>
            <a:endParaRPr lang="en-US" sz="2000" dirty="0"/>
          </a:p>
        </p:txBody>
      </p:sp>
      <p:sp>
        <p:nvSpPr>
          <p:cNvPr id="6" name="Text 3"/>
          <p:cNvSpPr/>
          <p:nvPr/>
        </p:nvSpPr>
        <p:spPr>
          <a:xfrm>
            <a:off x="6201489" y="3619500"/>
            <a:ext cx="3703677" cy="653653"/>
          </a:xfrm>
          <a:prstGeom prst="rect">
            <a:avLst/>
          </a:prstGeom>
          <a:noFill/>
          <a:ln/>
        </p:spPr>
        <p:txBody>
          <a:bodyPr wrap="square" lIns="0" tIns="0" rIns="0" bIns="0" rtlCol="0" anchor="t"/>
          <a:lstStyle/>
          <a:p>
            <a:pPr algn="ctr" indent="0" marL="0">
              <a:lnSpc>
                <a:spcPts val="2550"/>
              </a:lnSpc>
              <a:buNone/>
            </a:pPr>
            <a:r>
              <a:rPr lang="en-US" sz="1600" dirty="0">
                <a:solidFill>
                  <a:srgbClr val="E0D6DE"/>
                </a:solidFill>
                <a:latin typeface="Noto Sans TC" pitchFamily="34" charset="0"/>
                <a:ea typeface="Noto Sans TC" pitchFamily="34" charset="-122"/>
                <a:cs typeface="Noto Sans TC" pitchFamily="34" charset="-120"/>
              </a:rPr>
              <a:t>Compilers can optimize code to make it more efficient and faster.</a:t>
            </a:r>
            <a:endParaRPr lang="en-US" sz="1600" dirty="0"/>
          </a:p>
        </p:txBody>
      </p:sp>
      <p:sp>
        <p:nvSpPr>
          <p:cNvPr id="7" name="Text 4"/>
          <p:cNvSpPr/>
          <p:nvPr/>
        </p:nvSpPr>
        <p:spPr>
          <a:xfrm>
            <a:off x="10211633" y="2248257"/>
            <a:ext cx="3703677" cy="674132"/>
          </a:xfrm>
          <a:prstGeom prst="rect">
            <a:avLst/>
          </a:prstGeom>
          <a:noFill/>
          <a:ln/>
        </p:spPr>
        <p:txBody>
          <a:bodyPr wrap="none" lIns="0" tIns="0" rIns="0" bIns="0" rtlCol="0" anchor="t"/>
          <a:lstStyle/>
          <a:p>
            <a:pPr algn="ctr" indent="0" marL="0">
              <a:lnSpc>
                <a:spcPts val="5300"/>
              </a:lnSpc>
              <a:buNone/>
            </a:pPr>
            <a:r>
              <a:rPr lang="en-US" sz="5300" dirty="0">
                <a:solidFill>
                  <a:srgbClr val="E0D6DE"/>
                </a:solidFill>
                <a:latin typeface="Sora Medium" pitchFamily="34" charset="0"/>
                <a:ea typeface="Sora Medium" pitchFamily="34" charset="-122"/>
                <a:cs typeface="Sora Medium" pitchFamily="34" charset="-120"/>
              </a:rPr>
              <a:t>2</a:t>
            </a:r>
            <a:endParaRPr lang="en-US" sz="5300" dirty="0"/>
          </a:p>
        </p:txBody>
      </p:sp>
      <p:sp>
        <p:nvSpPr>
          <p:cNvPr id="8" name="Text 5"/>
          <p:cNvSpPr/>
          <p:nvPr/>
        </p:nvSpPr>
        <p:spPr>
          <a:xfrm>
            <a:off x="10786467" y="3177778"/>
            <a:ext cx="2553891" cy="319207"/>
          </a:xfrm>
          <a:prstGeom prst="rect">
            <a:avLst/>
          </a:prstGeom>
          <a:noFill/>
          <a:ln/>
        </p:spPr>
        <p:txBody>
          <a:bodyPr wrap="none" lIns="0" tIns="0" rIns="0" bIns="0" rtlCol="0" anchor="t"/>
          <a:lstStyle/>
          <a:p>
            <a:pPr algn="ctr" indent="0" marL="0">
              <a:lnSpc>
                <a:spcPts val="2500"/>
              </a:lnSpc>
              <a:buNone/>
            </a:pPr>
            <a:r>
              <a:rPr lang="en-US" sz="2000" dirty="0">
                <a:solidFill>
                  <a:srgbClr val="E0D6DE"/>
                </a:solidFill>
                <a:latin typeface="Sora Medium" pitchFamily="34" charset="0"/>
                <a:ea typeface="Sora Medium" pitchFamily="34" charset="-122"/>
                <a:cs typeface="Sora Medium" pitchFamily="34" charset="-120"/>
              </a:rPr>
              <a:t>Debugging</a:t>
            </a:r>
            <a:endParaRPr lang="en-US" sz="2000" dirty="0"/>
          </a:p>
        </p:txBody>
      </p:sp>
      <p:sp>
        <p:nvSpPr>
          <p:cNvPr id="9" name="Text 6"/>
          <p:cNvSpPr/>
          <p:nvPr/>
        </p:nvSpPr>
        <p:spPr>
          <a:xfrm>
            <a:off x="10211633" y="3619500"/>
            <a:ext cx="3703677" cy="980480"/>
          </a:xfrm>
          <a:prstGeom prst="rect">
            <a:avLst/>
          </a:prstGeom>
          <a:noFill/>
          <a:ln/>
        </p:spPr>
        <p:txBody>
          <a:bodyPr wrap="square" lIns="0" tIns="0" rIns="0" bIns="0" rtlCol="0" anchor="t"/>
          <a:lstStyle/>
          <a:p>
            <a:pPr algn="ctr" indent="0" marL="0">
              <a:lnSpc>
                <a:spcPts val="2550"/>
              </a:lnSpc>
              <a:buNone/>
            </a:pPr>
            <a:r>
              <a:rPr lang="en-US" sz="1600" dirty="0">
                <a:solidFill>
                  <a:srgbClr val="E0D6DE"/>
                </a:solidFill>
                <a:latin typeface="Noto Sans TC" pitchFamily="34" charset="0"/>
                <a:ea typeface="Noto Sans TC" pitchFamily="34" charset="-122"/>
                <a:cs typeface="Noto Sans TC" pitchFamily="34" charset="-120"/>
              </a:rPr>
              <a:t>Understanding the compilation process can help with debugging errors in code.</a:t>
            </a:r>
            <a:endParaRPr lang="en-US" sz="1600" dirty="0"/>
          </a:p>
        </p:txBody>
      </p:sp>
      <p:sp>
        <p:nvSpPr>
          <p:cNvPr id="10" name="Text 7"/>
          <p:cNvSpPr/>
          <p:nvPr/>
        </p:nvSpPr>
        <p:spPr>
          <a:xfrm>
            <a:off x="6201489" y="5315069"/>
            <a:ext cx="3703677" cy="674132"/>
          </a:xfrm>
          <a:prstGeom prst="rect">
            <a:avLst/>
          </a:prstGeom>
          <a:noFill/>
          <a:ln/>
        </p:spPr>
        <p:txBody>
          <a:bodyPr wrap="none" lIns="0" tIns="0" rIns="0" bIns="0" rtlCol="0" anchor="t"/>
          <a:lstStyle/>
          <a:p>
            <a:pPr algn="ctr" indent="0" marL="0">
              <a:lnSpc>
                <a:spcPts val="5300"/>
              </a:lnSpc>
              <a:buNone/>
            </a:pPr>
            <a:r>
              <a:rPr lang="en-US" sz="5300" dirty="0">
                <a:solidFill>
                  <a:srgbClr val="E0D6DE"/>
                </a:solidFill>
                <a:latin typeface="Sora Medium" pitchFamily="34" charset="0"/>
                <a:ea typeface="Sora Medium" pitchFamily="34" charset="-122"/>
                <a:cs typeface="Sora Medium" pitchFamily="34" charset="-120"/>
              </a:rPr>
              <a:t>3</a:t>
            </a:r>
            <a:endParaRPr lang="en-US" sz="5300" dirty="0"/>
          </a:p>
        </p:txBody>
      </p:sp>
      <p:sp>
        <p:nvSpPr>
          <p:cNvPr id="11" name="Text 8"/>
          <p:cNvSpPr/>
          <p:nvPr/>
        </p:nvSpPr>
        <p:spPr>
          <a:xfrm>
            <a:off x="6776323" y="6244590"/>
            <a:ext cx="2553891" cy="319207"/>
          </a:xfrm>
          <a:prstGeom prst="rect">
            <a:avLst/>
          </a:prstGeom>
          <a:noFill/>
          <a:ln/>
        </p:spPr>
        <p:txBody>
          <a:bodyPr wrap="none" lIns="0" tIns="0" rIns="0" bIns="0" rtlCol="0" anchor="t"/>
          <a:lstStyle/>
          <a:p>
            <a:pPr algn="ctr" indent="0" marL="0">
              <a:lnSpc>
                <a:spcPts val="2500"/>
              </a:lnSpc>
              <a:buNone/>
            </a:pPr>
            <a:r>
              <a:rPr lang="en-US" sz="2000" dirty="0">
                <a:solidFill>
                  <a:srgbClr val="E0D6DE"/>
                </a:solidFill>
                <a:latin typeface="Sora Medium" pitchFamily="34" charset="0"/>
                <a:ea typeface="Sora Medium" pitchFamily="34" charset="-122"/>
                <a:cs typeface="Sora Medium" pitchFamily="34" charset="-120"/>
              </a:rPr>
              <a:t>Cross-Platform</a:t>
            </a:r>
            <a:endParaRPr lang="en-US" sz="2000" dirty="0"/>
          </a:p>
        </p:txBody>
      </p:sp>
      <p:sp>
        <p:nvSpPr>
          <p:cNvPr id="12" name="Text 9"/>
          <p:cNvSpPr/>
          <p:nvPr/>
        </p:nvSpPr>
        <p:spPr>
          <a:xfrm>
            <a:off x="6201489" y="6686312"/>
            <a:ext cx="3703677" cy="980480"/>
          </a:xfrm>
          <a:prstGeom prst="rect">
            <a:avLst/>
          </a:prstGeom>
          <a:noFill/>
          <a:ln/>
        </p:spPr>
        <p:txBody>
          <a:bodyPr wrap="square" lIns="0" tIns="0" rIns="0" bIns="0" rtlCol="0" anchor="t"/>
          <a:lstStyle/>
          <a:p>
            <a:pPr algn="ctr" indent="0" marL="0">
              <a:lnSpc>
                <a:spcPts val="2550"/>
              </a:lnSpc>
              <a:buNone/>
            </a:pPr>
            <a:r>
              <a:rPr lang="en-US" sz="1600" dirty="0">
                <a:solidFill>
                  <a:srgbClr val="E0D6DE"/>
                </a:solidFill>
                <a:latin typeface="Noto Sans TC" pitchFamily="34" charset="0"/>
                <a:ea typeface="Noto Sans TC" pitchFamily="34" charset="-122"/>
                <a:cs typeface="Noto Sans TC" pitchFamily="34" charset="-120"/>
              </a:rPr>
              <a:t>Compilers enable programs to run on different operating systems and hardware.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683073"/>
            <a:ext cx="5670590" cy="708779"/>
          </a:xfrm>
          <a:prstGeom prst="rect">
            <a:avLst/>
          </a:prstGeom>
          <a:noFill/>
          <a:ln/>
        </p:spPr>
        <p:txBody>
          <a:bodyPr wrap="none" lIns="0" tIns="0" rIns="0" bIns="0" rtlCol="0" anchor="t"/>
          <a:lstStyle/>
          <a:p>
            <a:pPr indent="0" marL="0">
              <a:lnSpc>
                <a:spcPts val="5550"/>
              </a:lnSpc>
              <a:buNone/>
            </a:pPr>
            <a:r>
              <a:rPr lang="en-US" sz="4450" dirty="0">
                <a:solidFill>
                  <a:srgbClr val="97B8FF"/>
                </a:solidFill>
                <a:latin typeface="Sora Medium" pitchFamily="34" charset="0"/>
                <a:ea typeface="Sora Medium" pitchFamily="34" charset="-122"/>
                <a:cs typeface="Sora Medium" pitchFamily="34" charset="-120"/>
              </a:rPr>
              <a:t>Key Takeaways</a:t>
            </a:r>
            <a:endParaRPr lang="en-US" sz="4450" dirty="0"/>
          </a:p>
        </p:txBody>
      </p:sp>
      <p:sp>
        <p:nvSpPr>
          <p:cNvPr id="4" name="Text 1"/>
          <p:cNvSpPr/>
          <p:nvPr/>
        </p:nvSpPr>
        <p:spPr>
          <a:xfrm>
            <a:off x="6280190" y="3732014"/>
            <a:ext cx="7556421" cy="1814513"/>
          </a:xfrm>
          <a:prstGeom prst="rect">
            <a:avLst/>
          </a:prstGeom>
          <a:noFill/>
          <a:ln/>
        </p:spPr>
        <p:txBody>
          <a:bodyPr wrap="square" lIns="0" tIns="0" rIns="0" bIns="0" rtlCol="0" anchor="t"/>
          <a:lstStyle/>
          <a:p>
            <a:pPr indent="0" marL="0">
              <a:lnSpc>
                <a:spcPts val="2850"/>
              </a:lnSpc>
              <a:buNone/>
            </a:pPr>
            <a:r>
              <a:rPr lang="en-US" sz="1750" dirty="0">
                <a:solidFill>
                  <a:srgbClr val="E0D6DE"/>
                </a:solidFill>
                <a:latin typeface="Noto Sans TC" pitchFamily="34" charset="0"/>
                <a:ea typeface="Noto Sans TC" pitchFamily="34" charset="-122"/>
                <a:cs typeface="Noto Sans TC" pitchFamily="34" charset="-120"/>
              </a:rPr>
              <a:t>Information is more than just bits; it's bits with context. Understanding this interplay is crucial in the digital world. Compilers are essential tools that enable us to build and run programs on various platforms. By grasping the fundamental principles of compilation systems, we unlock a deeper understanding of how software works.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2025-01-13T09:23:52Z</dcterms:created>
  <dcterms:modified xsi:type="dcterms:W3CDTF">2025-01-13T09:23:52Z</dcterms:modified>
</cp:coreProperties>
</file>